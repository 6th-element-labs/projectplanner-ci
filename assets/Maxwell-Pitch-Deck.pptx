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AI-in-PM ($B)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C1B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B9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</c:v>
                </c:pt>
                <c:pt idx="1">
                  <c:v>14.1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C1B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B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8"/>
        </a:solidFill>
        <a:ln>
          <a:noFill/>
        </a:ln>
        <a:effectLst/>
      </c:spPr>
    </c:plotArea>
    <c:plotVisOnly val="1"/>
    <c:dispBlanksAs val="span"/>
  </c:chart>
  <c:spPr>
    <a:solidFill>
      <a:srgbClr val="F7F9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554480"/>
            <a:ext cx="274320" cy="274320"/>
          </a:xfrm>
          <a:prstGeom prst="ellipse">
            <a:avLst/>
          </a:prstGeom>
          <a:solidFill>
            <a:srgbClr val="19B98C"/>
          </a:solidFill>
          <a:ln/>
        </p:spPr>
      </p:sp>
      <p:sp>
        <p:nvSpPr>
          <p:cNvPr id="4" name="Text 2"/>
          <p:cNvSpPr/>
          <p:nvPr/>
        </p:nvSpPr>
        <p:spPr>
          <a:xfrm>
            <a:off x="1069848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plan that writes itself,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itself true, and ships itself.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E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project management — the agentic loop, standalone.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02920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0E211C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0292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65376" y="5029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6E5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502920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0E211C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502920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82696" y="5029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6E5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0440" y="502920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0E211C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5029200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4860" y="5029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6E5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32604" y="502920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0E211C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2604" y="50292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"Rovo for the rest of us."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16752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steve@taikunai.com   ·   plan.taikunai.com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plan is a document you maintain by hand.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 board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≠  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running the project.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32918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incumbent bolted an assistant onto the same old board. The human is still the engine — so the plan rots the moment work happens.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2103120"/>
            <a:ext cx="51480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11112" y="248716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6611112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69480" y="226771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board, not an 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2633472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Trello, Asana, monday, Notion — a board a human drives, with AI helping inside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3520440"/>
            <a:ext cx="51480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11112" y="3904488"/>
            <a:ext cx="457200" cy="457200"/>
          </a:xfrm>
          <a:prstGeom prst="ellipse">
            <a:avLst/>
          </a:prstGeom>
          <a:solidFill>
            <a:srgbClr val="C951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368503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decorates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4050792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summarizes a card or drafts a task. It doesn't decide, update, or execute.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937760"/>
            <a:ext cx="51480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1112" y="532180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510235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default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69480" y="5468112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always behind reality. Keeping the plan true is a full-time chore nobody enjoys.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it: the plan isn't a document. It's the engine.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18007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48716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3108960"/>
            <a:ext cx="4448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a human drives — AI helps inside it.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a document you keep up to date.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happens elsewhere; the plan lags reality.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23076" y="2194560"/>
            <a:ext cx="5180076" cy="2834640"/>
          </a:xfrm>
          <a:prstGeom prst="roundRect">
            <a:avLst>
              <a:gd name="adj" fmla="val 258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88836" y="248716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88836" y="3108960"/>
            <a:ext cx="4448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the AI drives — a human supervises.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maintains itself from what's happening.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out — dispatches work, sends the brief.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Plan-as-engine, not plan-as-document. </a:t>
            </a:r>
            <a:pPr algn="ctr" indent="0" marL="0">
              <a:buNone/>
            </a:pPr>
            <a:r>
              <a:rPr lang="en-US" sz="1600" i="1" dirty="0">
                <a:solidFill>
                  <a:srgbClr val="334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single inversion is the whole company.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loop: generate → maintain → execute → report.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2498598" cy="274320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94560"/>
            <a:ext cx="2498598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56032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578608"/>
            <a:ext cx="1309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1858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your Drive. It writes the whole plan — workstreams, tasks, dependencies, dates, owners.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58718" y="2194560"/>
            <a:ext cx="2498598" cy="274320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8718" y="2194560"/>
            <a:ext cx="2498598" cy="109728"/>
          </a:xfrm>
          <a:prstGeom prst="rect">
            <a:avLst/>
          </a:prstGeom>
          <a:solidFill>
            <a:srgbClr val="C9512A"/>
          </a:solidFill>
          <a:ln/>
        </p:spPr>
      </p:sp>
      <p:sp>
        <p:nvSpPr>
          <p:cNvPr id="12" name="Shape 10"/>
          <p:cNvSpPr/>
          <p:nvPr/>
        </p:nvSpPr>
        <p:spPr>
          <a:xfrm>
            <a:off x="3778758" y="2560320"/>
            <a:ext cx="502920" cy="502920"/>
          </a:xfrm>
          <a:prstGeom prst="ellipse">
            <a:avLst/>
          </a:prstGeom>
          <a:solidFill>
            <a:srgbClr val="C9512A"/>
          </a:solidFill>
          <a:ln/>
        </p:spPr>
      </p:sp>
      <p:sp>
        <p:nvSpPr>
          <p:cNvPr id="13" name="Text 11"/>
          <p:cNvSpPr/>
          <p:nvPr/>
        </p:nvSpPr>
        <p:spPr>
          <a:xfrm>
            <a:off x="377875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18838" y="2578608"/>
            <a:ext cx="1309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8758" y="3337560"/>
            <a:ext cx="1858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email or standups. It finds the task, checks if it's really done, updates the plan, and replies.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2194560"/>
            <a:ext cx="2498598" cy="274320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1636" y="2194560"/>
            <a:ext cx="2498598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51676" y="256032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6551676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91756" y="2578608"/>
            <a:ext cx="1309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51676" y="3337560"/>
            <a:ext cx="1858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 ready task to Claude Code. Code on a branch, a pull request opens — never auto-merged.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04554" y="2194560"/>
            <a:ext cx="2498598" cy="2743200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4554" y="2194560"/>
            <a:ext cx="2498598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4594" y="256032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5" name="Text 23"/>
          <p:cNvSpPr/>
          <p:nvPr/>
        </p:nvSpPr>
        <p:spPr>
          <a:xfrm>
            <a:off x="9324594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64674" y="2578608"/>
            <a:ext cx="1309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24594" y="3337560"/>
            <a:ext cx="18585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chief-of-staff digest: what changed, what's newly overdue, what's slipping on the critical path.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21208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EAF1EE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1208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loop, always.  </a:t>
            </a:r>
            <a:pPr indent="0" marL="0">
              <a:buNone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propose-to-confirm and written to an immutable audit log. Autonomy is a dial — off by default.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forward an email. The plan updates itself — and ships code.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1856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5316" y="27432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38531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arrives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42032" y="2514600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6E56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2514600"/>
            <a:ext cx="1856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5596" y="27432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362559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17520" y="32918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task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82312" y="2514600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6E5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66360" y="2514600"/>
            <a:ext cx="1856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65876" y="27432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586587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57800" y="32918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exit-criteria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22592" y="2514600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6E56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514600"/>
            <a:ext cx="18562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6156" y="27432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810615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98080" y="32918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+ replies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62872" y="2514600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6E56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46920" y="2514600"/>
            <a:ext cx="1856232" cy="1417320"/>
          </a:xfrm>
          <a:prstGeom prst="roundRect">
            <a:avLst>
              <a:gd name="adj" fmla="val 516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46436" y="2743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4643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38360" y="32918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→ PR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48056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0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types a status update. </a:t>
            </a:r>
            <a:pPr algn="ctr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334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stays true because it reads reality — then turns the next task into working software.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55778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on plan.taikunai.com — the maintain + execute legs run on the founder's real projects.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just became true at once.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1800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87752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2532888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reason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3154680"/>
            <a:ext cx="3808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judge “done” vs “sounds done” — real triage, not keyword-matching.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3076" y="2240280"/>
            <a:ext cx="51800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587752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74636" y="2532888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standard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74636" y="3154680"/>
            <a:ext cx="3808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your whole plan from your IDE went from exotic to native.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51800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690872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4636008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pricing is collapsing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5257800"/>
            <a:ext cx="3808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Seat-only fell 21% → 15% in a year; buyers now want per-plan / per-outcome.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3076" y="4343400"/>
            <a:ext cx="51800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3116" y="4690872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6643116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4636" y="4636008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 validated the category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74636" y="5257800"/>
            <a:ext cx="3808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giant proved the generate → maintain → execute loop is the future.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~$10B market, mid-transition to agents.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149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95728"/>
            <a:ext cx="131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~$9–12B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software, 2025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5080" y="2194560"/>
            <a:ext cx="149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6520" y="2395728"/>
            <a:ext cx="131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~$3.5–5.3B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636520" y="306324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AI-in-PM segment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4360" y="2194560"/>
            <a:ext cx="149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5800" y="2395728"/>
            <a:ext cx="131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~15–27%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95800" y="3063240"/>
            <a:ext cx="131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(CAGR)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EAF1EE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tailwind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Seat-only pricing fell 21% → 15% in a year and churns ~2.3× higher. The incumbents' business model wobbles exactly as a per-plan, agentic model arrives.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AI-in-PM market grows ~4× by 2030 ($B)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55080" y="2606040"/>
          <a:ext cx="514807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two or three legs. We package all four.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434840" y="2194560"/>
            <a:ext cx="1340510" cy="475488"/>
          </a:xfrm>
          <a:prstGeom prst="rect">
            <a:avLst/>
          </a:prstGeom>
          <a:solidFill>
            <a:srgbClr val="0F6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34840" y="2194560"/>
            <a:ext cx="1340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66790" y="2194560"/>
            <a:ext cx="1340510" cy="475488"/>
          </a:xfrm>
          <a:prstGeom prst="rect">
            <a:avLst/>
          </a:prstGeom>
          <a:solidFill>
            <a:srgbClr val="E4EC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6790" y="2194560"/>
            <a:ext cx="1340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98741" y="2194560"/>
            <a:ext cx="1340510" cy="475488"/>
          </a:xfrm>
          <a:prstGeom prst="rect">
            <a:avLst/>
          </a:prstGeom>
          <a:solidFill>
            <a:srgbClr val="E4EC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98741" y="2194560"/>
            <a:ext cx="1340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0691" y="2194560"/>
            <a:ext cx="1340510" cy="475488"/>
          </a:xfrm>
          <a:prstGeom prst="rect">
            <a:avLst/>
          </a:prstGeom>
          <a:solidFill>
            <a:srgbClr val="E4EC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0691" y="2194560"/>
            <a:ext cx="1340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162642" y="2194560"/>
            <a:ext cx="1340510" cy="475488"/>
          </a:xfrm>
          <a:prstGeom prst="rect">
            <a:avLst/>
          </a:prstGeom>
          <a:solidFill>
            <a:srgbClr val="E4EC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2642" y="2194560"/>
            <a:ext cx="13405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724912"/>
            <a:ext cx="3657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2491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from a corpus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34840" y="2724912"/>
            <a:ext cx="1340510" cy="676656"/>
          </a:xfrm>
          <a:prstGeom prst="rect">
            <a:avLst/>
          </a:prstGeom>
          <a:solidFill>
            <a:srgbClr val="F3E2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724912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66790" y="2724912"/>
            <a:ext cx="1340510" cy="676656"/>
          </a:xfrm>
          <a:prstGeom prst="rect">
            <a:avLst/>
          </a:prstGeom>
          <a:solidFill>
            <a:srgbClr val="F3E2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6790" y="2724912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98741" y="2724912"/>
            <a:ext cx="1340510" cy="676656"/>
          </a:xfrm>
          <a:prstGeom prst="rect">
            <a:avLst/>
          </a:prstGeom>
          <a:solidFill>
            <a:srgbClr val="F3E2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8741" y="2724912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30691" y="2724912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0691" y="2724912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162642" y="2724912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2642" y="2724912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3474720"/>
            <a:ext cx="3657600" cy="676656"/>
          </a:xfrm>
          <a:prstGeom prst="rect">
            <a:avLst/>
          </a:prstGeom>
          <a:solidFill>
            <a:srgbClr val="EFF3F1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7472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from email (plan-aware)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34840" y="3474720"/>
            <a:ext cx="1340510" cy="676656"/>
          </a:xfrm>
          <a:prstGeom prst="rect">
            <a:avLst/>
          </a:prstGeom>
          <a:solidFill>
            <a:srgbClr val="0F6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474720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866790" y="3474720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66790" y="3474720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298741" y="3474720"/>
            <a:ext cx="1340510" cy="676656"/>
          </a:xfrm>
          <a:prstGeom prst="rect">
            <a:avLst/>
          </a:prstGeom>
          <a:solidFill>
            <a:srgbClr val="F3E2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8741" y="3474720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730691" y="3474720"/>
            <a:ext cx="1340510" cy="676656"/>
          </a:xfrm>
          <a:prstGeom prst="rect">
            <a:avLst/>
          </a:prstGeom>
          <a:solidFill>
            <a:srgbClr val="F3E2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0691" y="3474720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0162642" y="3474720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62642" y="3474720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5800" y="4224528"/>
            <a:ext cx="3657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22452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→ pull request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434840" y="4224528"/>
            <a:ext cx="1340510" cy="676656"/>
          </a:xfrm>
          <a:prstGeom prst="rect">
            <a:avLst/>
          </a:prstGeom>
          <a:solidFill>
            <a:srgbClr val="0F6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4224528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866790" y="4224528"/>
            <a:ext cx="1340510" cy="676656"/>
          </a:xfrm>
          <a:prstGeom prst="rect">
            <a:avLst/>
          </a:prstGeom>
          <a:solidFill>
            <a:srgbClr val="0F6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66790" y="4224528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298741" y="4224528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8741" y="4224528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730691" y="4224528"/>
            <a:ext cx="1340510" cy="676656"/>
          </a:xfrm>
          <a:prstGeom prst="rect">
            <a:avLst/>
          </a:prstGeom>
          <a:solidFill>
            <a:srgbClr val="F3E2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0691" y="4224528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0162642" y="4224528"/>
            <a:ext cx="1340510" cy="676656"/>
          </a:xfrm>
          <a:prstGeom prst="rect">
            <a:avLst/>
          </a:prstGeom>
          <a:solidFill>
            <a:srgbClr val="0F6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62642" y="4224528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5800" y="4974336"/>
            <a:ext cx="3657600" cy="676656"/>
          </a:xfrm>
          <a:prstGeom prst="rect">
            <a:avLst/>
          </a:prstGeom>
          <a:solidFill>
            <a:srgbClr val="EFF3F1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497433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loop, as one audited product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4434840" y="4974336"/>
            <a:ext cx="1340510" cy="676656"/>
          </a:xfrm>
          <a:prstGeom prst="rect">
            <a:avLst/>
          </a:prstGeom>
          <a:solidFill>
            <a:srgbClr val="0F6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4974336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866790" y="4974336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66790" y="4974336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298741" y="4974336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8741" y="4974336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8730691" y="4974336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0691" y="4974336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10162642" y="4974336"/>
            <a:ext cx="1340510" cy="676656"/>
          </a:xfrm>
          <a:prstGeom prst="rect">
            <a:avLst/>
          </a:prstGeom>
          <a:solidFill>
            <a:srgbClr val="EAED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162642" y="4974336"/>
            <a:ext cx="13405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407408" y="2167128"/>
            <a:ext cx="1395374" cy="3456432"/>
          </a:xfrm>
          <a:prstGeom prst="rect">
            <a:avLst/>
          </a:prstGeom>
          <a:ln w="31750">
            <a:solidFill>
              <a:srgbClr val="0F6E5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589788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competitor ships the closed loop as one opinionated, audited plan.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independently rebuilt Atlassian Rovo — then made it standalone.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18007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56032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</a:t>
            </a:r>
            <a:pPr indent="0" marL="0">
              <a:buNone/>
            </a:pPr>
            <a:r>
              <a:rPr lang="en-US" sz="1200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enterprise version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3154680"/>
            <a:ext cx="44485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Jira &amp; Confluence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pricing + credit pools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Jira issues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Approval-gated, governance-first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23076" y="2286000"/>
            <a:ext cx="518007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23076" y="2286000"/>
            <a:ext cx="5180076" cy="128016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6688836" y="257860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the rest of us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88836" y="3154680"/>
            <a:ext cx="44485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drive it from your IDE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 economics, flat per-plan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plan from your real email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autonomy — it can act, fully audited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54864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Rovo for the rest of us — </a:t>
            </a:r>
            <a:pPr algn="ctr" indent="0" marL="0">
              <a:buNone/>
            </a:pPr>
            <a:r>
              <a:rPr lang="en-US" sz="1700" i="1" dirty="0">
                <a:solidFill>
                  <a:srgbClr val="334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plan, without the Jira tax.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DEFENSIBLE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isn't the features. It's four things a copyist can't ship.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487168"/>
            <a:ext cx="109728" cy="1197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8716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the incumbent can't take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80" y="3035808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Rovo is chained to Jira. Copying us means shipping a cheap, standalone, non-Jira planner that cannibalizes their own seats. They won't.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3076" y="219456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2487168"/>
            <a:ext cx="109728" cy="1197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6734556" y="248716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34556" y="3035808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confirm/reject logs {message → task → really done? → change}. Proprietary eval data nobody can buy — only earn by running the loop.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4636008"/>
            <a:ext cx="109728" cy="1197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63600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 can't retrofit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97280" y="5184648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autonomy + propose-to-confirm + immutable audit. Built in from line one — and exactly what regulated buyers require.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3076" y="4343400"/>
            <a:ext cx="51800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3076" y="4636008"/>
            <a:ext cx="109728" cy="1197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6734556" y="4636008"/>
            <a:ext cx="4494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+ focus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34556" y="5184648"/>
            <a:ext cx="44942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 on a ~$6/mo VM. A flat per-plan price seat-and-credit incumbents structurally can't match for small teams.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plan and the work — never the seat.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24002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6888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269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703320"/>
            <a:ext cx="2554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Ask-the-plan + board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autonomy / dispatch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flywheel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74464" y="2194560"/>
            <a:ext cx="3240024" cy="3108960"/>
          </a:xfrm>
          <a:prstGeom prst="roundRect">
            <a:avLst>
              <a:gd name="adj" fmla="val 235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94504" y="246888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48784" y="2834640"/>
            <a:ext cx="269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$29–49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40224" y="3703320"/>
            <a:ext cx="2554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plan / month, flat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+ RAG chat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auto-apply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access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22848" y="2505456"/>
            <a:ext cx="1371600" cy="274320"/>
          </a:xfrm>
          <a:prstGeom prst="rect">
            <a:avLst/>
          </a:prstGeom>
          <a:solidFill>
            <a:srgbClr val="EAF7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63128" y="2194560"/>
            <a:ext cx="324002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83168" y="2468880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Vertical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37448" y="2834640"/>
            <a:ext cx="269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$199–499+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28888" y="3703320"/>
            <a:ext cx="2554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plan or custom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dispatch-to-code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audit export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ontology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55778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Flat-per-plan is the wedge against seat + credit incumbents. Dispatch-to-code is the metered, hard-ROI lever.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bottoms-up where the users already live.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3009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57860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founders &amp; small eng teams (2–15) in Claude Code / Cursor, feeling seat + credit pain.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86784" y="2240280"/>
            <a:ext cx="457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6E56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43984" y="2240280"/>
            <a:ext cx="33009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256032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04104" y="257860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64024" y="3337560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free → flat per-plan. Launch via Show HN, the MCP / Claude Code ecosystem, “best PM MCP servers” lists.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44968" y="2240280"/>
            <a:ext cx="457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6E5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02168" y="2240280"/>
            <a:ext cx="33009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22208" y="256032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852220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62288" y="257860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Entrench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22208" y="3337560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into one vertical where a tuned triage ontology becomes a second, deeper moat horizontals won't build.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10817352" cy="777240"/>
          </a:xfrm>
          <a:prstGeom prst="roundRect">
            <a:avLst>
              <a:gd name="adj" fmla="val 9412"/>
            </a:avLst>
          </a:prstGeom>
          <a:solidFill>
            <a:srgbClr val="EAF1EE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07492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proof:  </a:t>
            </a:r>
            <a:pPr indent="0" marL="0">
              <a:buNone/>
            </a:pPr>
            <a:r>
              <a:rPr lang="en-US" sz="14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is the user — the product already runs their real projects today.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live. Already running real work.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430018" cy="2194560"/>
          </a:xfrm>
          <a:prstGeom prst="roundRect">
            <a:avLst>
              <a:gd name="adj" fmla="val 333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51760"/>
            <a:ext cx="206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97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on plan.taikunai.com — dogfooded daily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81578" y="2286000"/>
            <a:ext cx="243001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64458" y="2651760"/>
            <a:ext cx="206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/ 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10178" y="3474720"/>
            <a:ext cx="197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across workstreams — a real pilot maintained inside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286000"/>
            <a:ext cx="243001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2651760"/>
            <a:ext cx="206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05956" y="3474720"/>
            <a:ext cx="197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 — driven from Claude Code today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3134" y="2286000"/>
            <a:ext cx="243001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114300" dist="38100" dir="8100000">
              <a:srgbClr val="0C1B1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56014" y="2651760"/>
            <a:ext cx="2064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~$6/mo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301734" y="3474720"/>
            <a:ext cx="197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— the cost structure is itself the moat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2120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C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deck-ware. </a:t>
            </a:r>
            <a:pPr algn="ctr" indent="0" marL="0">
              <a:buNone/>
            </a:pPr>
            <a:r>
              <a:rPr lang="en-US" sz="1600" i="1" dirty="0">
                <a:solidFill>
                  <a:srgbClr val="334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runs today; the one missing leg is corpus → plan generation — the next build.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8875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should write itself,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itself true, and ship itself.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42976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8FE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 — the agentic project plan. The loop a giant built into Rovo, standalone and ten times cheaper.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12700">
            <a:solidFill>
              <a:srgbClr val="2C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steve@taikunai.com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16752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plan.taikunai.com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Maxwell — Pitch Deck</dc:title>
  <dc:subject>PptxGenJS Presentation</dc:subject>
  <dc:creator>Taikun / 6th Element Labs</dc:creator>
  <cp:lastModifiedBy>Taikun / 6th Element Labs</cp:lastModifiedBy>
  <cp:revision>1</cp:revision>
  <dcterms:created xsi:type="dcterms:W3CDTF">2026-06-13T00:14:39Z</dcterms:created>
  <dcterms:modified xsi:type="dcterms:W3CDTF">2026-06-13T00:14:39Z</dcterms:modified>
</cp:coreProperties>
</file>